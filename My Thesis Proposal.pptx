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8" r:id="rId12"/>
    <p:sldId id="294" r:id="rId13"/>
    <p:sldId id="295" r:id="rId14"/>
    <p:sldId id="296" r:id="rId15"/>
    <p:sldId id="297" r:id="rId16"/>
    <p:sldId id="27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-782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62074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91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None/>
              <a:defRPr sz="2400">
                <a:solidFill>
                  <a:srgbClr val="17161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2000"/>
              <a:buNone/>
              <a:defRPr sz="2000">
                <a:solidFill>
                  <a:srgbClr val="8E8A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800"/>
              <a:buNone/>
              <a:defRPr sz="1800">
                <a:solidFill>
                  <a:srgbClr val="8E8A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A88"/>
              </a:buClr>
              <a:buSzPts val="1600"/>
              <a:buNone/>
              <a:defRPr sz="1600">
                <a:solidFill>
                  <a:srgbClr val="8E8A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5023411" y="5266097"/>
            <a:ext cx="14825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7071167" y="5266096"/>
            <a:ext cx="20265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9662931" y="5266095"/>
            <a:ext cx="20265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 panose="020F0502020204030204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3200"/>
              <a:buChar char="▪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800"/>
              <a:buChar char="▪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400"/>
              <a:buChar char="▪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Char char="▪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57003" y="-1147721"/>
            <a:ext cx="427799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4400"/>
              <a:buFont typeface="Calibri" panose="020F0502020204030204"/>
              <a:buNone/>
              <a:defRPr sz="4400" b="1" i="0" u="none" strike="noStrike" cap="none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rgbClr val="17161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17161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17161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17161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17161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8A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0"/>
          <p:cNvSpPr>
            <a:spLocks noGrp="1"/>
          </p:cNvSpPr>
          <p:nvPr>
            <p:ph type="title"/>
          </p:nvPr>
        </p:nvSpPr>
        <p:spPr>
          <a:xfrm>
            <a:off x="4927252" y="1333500"/>
            <a:ext cx="6917525" cy="2855258"/>
          </a:xfrm>
        </p:spPr>
        <p:txBody>
          <a:bodyPr>
            <a:normAutofit/>
          </a:bodyPr>
          <a:lstStyle/>
          <a:p>
            <a:r>
              <a:rPr lang="en-US" sz="3200" dirty="0"/>
              <a:t>I/O-Aware Causal Profiling for Throughput Prediction in </a:t>
            </a:r>
            <a:r>
              <a:rPr lang="en-US" sz="3200" dirty="0" err="1"/>
              <a:t>Microservice</a:t>
            </a:r>
            <a:r>
              <a:rPr lang="en-US" sz="3200" dirty="0"/>
              <a:t> Systems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1600" dirty="0"/>
              <a:t>Also referred to as: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1800" i="1" dirty="0" err="1"/>
              <a:t>NetPoke</a:t>
            </a:r>
            <a:r>
              <a:rPr lang="en-US" sz="1800" i="1" dirty="0"/>
              <a:t>: Network-Aware Throughput Prediction for </a:t>
            </a:r>
            <a:r>
              <a:rPr lang="en-US" sz="1800" i="1" dirty="0" err="1"/>
              <a:t>Microservice</a:t>
            </a:r>
            <a:r>
              <a:rPr lang="en-US" sz="1800" i="1" dirty="0"/>
              <a:t> Applications</a:t>
            </a:r>
            <a:endParaRPr lang="en-GB" alt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902440" y="4811301"/>
            <a:ext cx="6917525" cy="1280217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MPHIL, COMPUTER SCIENCE</a:t>
            </a:r>
          </a:p>
          <a:p>
            <a:r>
              <a:rPr lang="en-US" sz="2800" dirty="0"/>
              <a:t>AFRAM VISCA GYEBI</a:t>
            </a:r>
          </a:p>
          <a:p>
            <a:r>
              <a:rPr lang="en-US" sz="2800" dirty="0"/>
              <a:t>SUPERVISOR: DR. (MRS.) ROSE-MARY, MENSAH GYENING</a:t>
            </a:r>
          </a:p>
          <a:p>
            <a:endParaRPr lang="en-GB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844777" y="6396335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400" dirty="0"/>
              <a:t>1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cloud applications are built as networks of small, independent services called </a:t>
            </a:r>
            <a:r>
              <a:rPr lang="en-US" dirty="0" err="1"/>
              <a:t>microservices</a:t>
            </a:r>
            <a:r>
              <a:rPr lang="en-US" dirty="0"/>
              <a:t>. Engineers constantly need to know: </a:t>
            </a:r>
            <a:r>
              <a:rPr lang="en-US" i="1" dirty="0"/>
              <a:t>if I optimize this one service, how much faster will the whole application get?</a:t>
            </a:r>
          </a:p>
          <a:p>
            <a:r>
              <a:rPr lang="en-US" b="1" dirty="0" err="1"/>
              <a:t>SlowPoke</a:t>
            </a:r>
            <a:r>
              <a:rPr lang="en-US" b="1" dirty="0"/>
              <a:t> (NSDI 2026)</a:t>
            </a:r>
            <a:r>
              <a:rPr lang="en-US" dirty="0"/>
              <a:t> answers this question by artificially slowing non-target services using a Linux mechanism called SIGSTOP — but SIGSTOP only freezes CPU activity, leaving network and database operations running freely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/>
              <a:t>2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51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services that do significant network or database work — which describes the majority of real </a:t>
            </a:r>
            <a:r>
              <a:rPr lang="en-US" sz="4000" dirty="0" err="1"/>
              <a:t>microservices</a:t>
            </a:r>
            <a:r>
              <a:rPr lang="en-US" sz="4000" dirty="0"/>
              <a:t> — </a:t>
            </a:r>
            <a:r>
              <a:rPr lang="en-US" sz="4000" dirty="0" err="1"/>
              <a:t>SlowPoke's</a:t>
            </a:r>
            <a:r>
              <a:rPr lang="en-US" sz="4000" dirty="0"/>
              <a:t> prediction is systematically inaccurate because the slowdown is incomplete.</a:t>
            </a:r>
          </a:p>
          <a:p>
            <a:pPr marL="114300" indent="0">
              <a:buNone/>
            </a:pP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3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7283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NetPoke</a:t>
            </a:r>
            <a:r>
              <a:rPr lang="en-US" sz="4000" dirty="0"/>
              <a:t> extends </a:t>
            </a:r>
            <a:r>
              <a:rPr lang="en-US" sz="4000" dirty="0" err="1"/>
              <a:t>SlowPoke</a:t>
            </a:r>
            <a:r>
              <a:rPr lang="en-US" sz="4000" dirty="0"/>
              <a:t> with network-aware slowdown using </a:t>
            </a:r>
            <a:r>
              <a:rPr lang="en-US" sz="4000" dirty="0" err="1"/>
              <a:t>tc</a:t>
            </a:r>
            <a:r>
              <a:rPr lang="en-US" sz="4000" dirty="0"/>
              <a:t> </a:t>
            </a:r>
            <a:r>
              <a:rPr lang="en-US" sz="4000" dirty="0" err="1"/>
              <a:t>netem</a:t>
            </a:r>
            <a:r>
              <a:rPr lang="en-US" sz="4000" dirty="0"/>
              <a:t> and </a:t>
            </a:r>
            <a:r>
              <a:rPr lang="en-US" sz="4000" dirty="0" err="1"/>
              <a:t>eBPF</a:t>
            </a:r>
            <a:r>
              <a:rPr lang="en-US" sz="4000" dirty="0"/>
              <a:t>-based measurement to produce accurate throughput predictions for I/O-bound </a:t>
            </a:r>
            <a:r>
              <a:rPr lang="en-US" sz="4000" dirty="0" err="1"/>
              <a:t>microservice</a:t>
            </a:r>
            <a:r>
              <a:rPr lang="en-US" sz="4000" dirty="0"/>
              <a:t> workloads.</a:t>
            </a:r>
          </a:p>
          <a:p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4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8863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 design, implement, and validate an I/O-aware extension to </a:t>
            </a:r>
            <a:r>
              <a:rPr lang="en-US" sz="3600" dirty="0" err="1"/>
              <a:t>SlowPoke's</a:t>
            </a:r>
            <a:r>
              <a:rPr lang="en-US" sz="3600" dirty="0"/>
              <a:t> causal profiling mechanism that produces accurate end-to-end throughput predictions for </a:t>
            </a:r>
            <a:r>
              <a:rPr lang="en-US" sz="3600" dirty="0" err="1"/>
              <a:t>microservice</a:t>
            </a:r>
            <a:r>
              <a:rPr lang="en-US" sz="3600" dirty="0"/>
              <a:t> applications whose performance is limited by network and database I/O, rather than CPU computation alone.</a:t>
            </a:r>
          </a:p>
          <a:p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5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82290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US" sz="3200" dirty="0"/>
              <a:t>To </a:t>
            </a:r>
            <a:r>
              <a:rPr lang="en-US" sz="3200" dirty="0" err="1"/>
              <a:t>characterise</a:t>
            </a:r>
            <a:r>
              <a:rPr lang="en-US" sz="3200" dirty="0"/>
              <a:t> the prediction error introduced by </a:t>
            </a:r>
            <a:r>
              <a:rPr lang="en-US" sz="3200" dirty="0" err="1"/>
              <a:t>SlowPoke's</a:t>
            </a:r>
            <a:r>
              <a:rPr lang="en-US" sz="3200" dirty="0"/>
              <a:t> SIGSTOP-only slowdown mechanism when applied to I/O-bound </a:t>
            </a:r>
            <a:r>
              <a:rPr lang="en-US" sz="3200" dirty="0" err="1"/>
              <a:t>microservice</a:t>
            </a:r>
            <a:r>
              <a:rPr lang="en-US" sz="3200" dirty="0"/>
              <a:t> workloads, and quantify how that error scales with I/O intensity</a:t>
            </a:r>
            <a:r>
              <a:rPr lang="en-US" sz="3200" dirty="0" smtClean="0"/>
              <a:t>.</a:t>
            </a:r>
          </a:p>
          <a:p>
            <a:pPr marL="628650" indent="-514350">
              <a:buFont typeface="+mj-lt"/>
              <a:buAutoNum type="arabicPeriod"/>
            </a:pPr>
            <a:r>
              <a:rPr lang="en-US" sz="3200" dirty="0"/>
              <a:t>To design an extended slowdown mechanism that combines SIGSTOP with </a:t>
            </a:r>
            <a:r>
              <a:rPr lang="en-US" sz="3200" dirty="0" err="1"/>
              <a:t>tc</a:t>
            </a:r>
            <a:r>
              <a:rPr lang="en-US" sz="3200" dirty="0"/>
              <a:t> </a:t>
            </a:r>
            <a:r>
              <a:rPr lang="en-US" sz="3200" dirty="0" err="1"/>
              <a:t>netem</a:t>
            </a:r>
            <a:r>
              <a:rPr lang="en-US" sz="3200" dirty="0"/>
              <a:t> network delay injection to produce a complete and accurate artificial slowdown for both CPU-bound and I/O-bound services.</a:t>
            </a:r>
          </a:p>
          <a:p>
            <a:pPr marL="628650" indent="-514350">
              <a:buFont typeface="+mj-lt"/>
              <a:buAutoNum type="arabicPeriod"/>
            </a:pPr>
            <a:endParaRPr lang="en-US" sz="3200" dirty="0"/>
          </a:p>
          <a:p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6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9489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(CONT’D)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To implement the extended mechanism within </a:t>
            </a:r>
            <a:r>
              <a:rPr lang="en-US" sz="3200" dirty="0" err="1"/>
              <a:t>SlowPoke's</a:t>
            </a:r>
            <a:r>
              <a:rPr lang="en-US" sz="3200" dirty="0"/>
              <a:t> existing POKER coordination infrastructure and validate its correctness on representative </a:t>
            </a:r>
            <a:r>
              <a:rPr lang="en-US" sz="3200" dirty="0" err="1"/>
              <a:t>microservice</a:t>
            </a:r>
            <a:r>
              <a:rPr lang="en-US" sz="3200" dirty="0"/>
              <a:t> benchmarks running on </a:t>
            </a:r>
            <a:r>
              <a:rPr lang="en-US" sz="3200" dirty="0" err="1"/>
              <a:t>Kubernetes</a:t>
            </a:r>
            <a:r>
              <a:rPr lang="en-US" sz="3200" dirty="0" smtClean="0"/>
              <a:t>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To evaluate </a:t>
            </a:r>
            <a:r>
              <a:rPr lang="en-US" sz="3200" dirty="0" err="1"/>
              <a:t>NetPoke's</a:t>
            </a:r>
            <a:r>
              <a:rPr lang="en-US" sz="3200" dirty="0"/>
              <a:t> prediction accuracy against </a:t>
            </a:r>
            <a:r>
              <a:rPr lang="en-US" sz="3200" dirty="0" err="1"/>
              <a:t>SlowPoke's</a:t>
            </a:r>
            <a:r>
              <a:rPr lang="en-US" sz="3200" dirty="0"/>
              <a:t> baseline across CPU-bound and I/O-bound workloads, demonstrating measurable improvement in RMSE for I/O-heavy </a:t>
            </a:r>
            <a:r>
              <a:rPr lang="en-US" sz="3200" dirty="0" err="1"/>
              <a:t>microservice</a:t>
            </a:r>
            <a:r>
              <a:rPr lang="en-US" sz="3200" dirty="0"/>
              <a:t> configurations.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7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9183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much prediction error does </a:t>
            </a:r>
            <a:r>
              <a:rPr lang="en-US" sz="3200" dirty="0" err="1"/>
              <a:t>SlowPoke's</a:t>
            </a:r>
            <a:r>
              <a:rPr lang="en-US" sz="3200" dirty="0"/>
              <a:t> SIGSTOP-only mechanism introduce for I/O-bound </a:t>
            </a:r>
            <a:r>
              <a:rPr lang="en-US" sz="3200" dirty="0" err="1"/>
              <a:t>microservices</a:t>
            </a:r>
            <a:r>
              <a:rPr lang="en-US" sz="3200" dirty="0"/>
              <a:t>, and how does that error scale with increasing I/O intensity?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Can combining SIGSTOP with </a:t>
            </a:r>
            <a:r>
              <a:rPr lang="en-US" sz="3200" dirty="0" err="1"/>
              <a:t>tc</a:t>
            </a:r>
            <a:r>
              <a:rPr lang="en-US" sz="3200" dirty="0"/>
              <a:t> </a:t>
            </a:r>
            <a:r>
              <a:rPr lang="en-US" sz="3200" dirty="0" err="1"/>
              <a:t>netem</a:t>
            </a:r>
            <a:r>
              <a:rPr lang="en-US" sz="3200" dirty="0"/>
              <a:t> network delay injection satisfy the bottleneck-equivalent condition required by </a:t>
            </a:r>
            <a:r>
              <a:rPr lang="en-US" sz="3200" dirty="0" err="1"/>
              <a:t>SlowPoke's</a:t>
            </a:r>
            <a:r>
              <a:rPr lang="en-US" sz="3200" dirty="0"/>
              <a:t> performance model for I/O-bound services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8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86774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 (CONT’D)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What are the precision limits and coordination overhead of the extended SIGSTOP + </a:t>
            </a:r>
            <a:r>
              <a:rPr lang="en-US" sz="3200" dirty="0" err="1"/>
              <a:t>tc</a:t>
            </a:r>
            <a:r>
              <a:rPr lang="en-US" sz="3200" dirty="0"/>
              <a:t> </a:t>
            </a:r>
            <a:r>
              <a:rPr lang="en-US" sz="3200" dirty="0" err="1"/>
              <a:t>netem</a:t>
            </a:r>
            <a:r>
              <a:rPr lang="en-US" sz="3200" dirty="0"/>
              <a:t> mechanism across different </a:t>
            </a:r>
            <a:r>
              <a:rPr lang="en-US" sz="3200" dirty="0" err="1"/>
              <a:t>microservice</a:t>
            </a:r>
            <a:r>
              <a:rPr lang="en-US" sz="3200" dirty="0"/>
              <a:t> topologies and I/O profiles?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To what extent does </a:t>
            </a:r>
            <a:r>
              <a:rPr lang="en-US" sz="3200" dirty="0" err="1"/>
              <a:t>NetPoke's</a:t>
            </a:r>
            <a:r>
              <a:rPr lang="en-US" sz="3200" dirty="0"/>
              <a:t> extended mechanism improve end-to-end throughput prediction accuracy compared to </a:t>
            </a:r>
            <a:r>
              <a:rPr lang="en-US" sz="3200" dirty="0" err="1"/>
              <a:t>SlowPoke's</a:t>
            </a:r>
            <a:r>
              <a:rPr lang="en-US" sz="3200" dirty="0"/>
              <a:t> original SIGSTOP-only approach on I/O-heavy </a:t>
            </a:r>
            <a:r>
              <a:rPr lang="en-US" sz="3200" dirty="0" err="1"/>
              <a:t>microservice</a:t>
            </a:r>
            <a:r>
              <a:rPr lang="en-US" sz="3200" dirty="0"/>
              <a:t> workloads?</a:t>
            </a:r>
          </a:p>
          <a:p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775141" y="5951896"/>
            <a:ext cx="3561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9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3900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b="1" dirty="0"/>
              <a:t>Filling a Confirmed Research Gap:</a:t>
            </a:r>
            <a:r>
              <a:rPr lang="en-US" sz="3600" dirty="0"/>
              <a:t> </a:t>
            </a:r>
            <a:r>
              <a:rPr lang="en-US" sz="3600" dirty="0" err="1"/>
              <a:t>SlowPoke's</a:t>
            </a:r>
            <a:r>
              <a:rPr lang="en-US" sz="3600" dirty="0"/>
              <a:t> authors explicitly document the I/O limitation in the published paper. No existing system in </a:t>
            </a:r>
            <a:r>
              <a:rPr lang="en-US" sz="3600" dirty="0" smtClean="0"/>
              <a:t>literature (up to 2026) addresses </a:t>
            </a:r>
            <a:r>
              <a:rPr lang="en-US" sz="3600" dirty="0"/>
              <a:t>I/O-accurate slowdown for distributed </a:t>
            </a:r>
            <a:r>
              <a:rPr lang="en-US" sz="3600" dirty="0" err="1"/>
              <a:t>microservice</a:t>
            </a:r>
            <a:r>
              <a:rPr lang="en-US" sz="3600" dirty="0"/>
              <a:t> causal profiling — making this a timely and original contribution</a:t>
            </a:r>
            <a:r>
              <a:rPr lang="en-US" sz="3600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1791" y="5951896"/>
            <a:ext cx="5277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10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317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26" y="1693289"/>
            <a:ext cx="10515600" cy="4277995"/>
          </a:xfrm>
        </p:spPr>
        <p:txBody>
          <a:bodyPr/>
          <a:lstStyle/>
          <a:p>
            <a:r>
              <a:rPr lang="en-US" sz="2400" dirty="0" smtClean="0"/>
              <a:t>The table below shows a few of the closest works to </a:t>
            </a:r>
            <a:r>
              <a:rPr lang="en-US" sz="2400" dirty="0" err="1" smtClean="0"/>
              <a:t>NetPoke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68069"/>
              </p:ext>
            </p:extLst>
          </p:nvPr>
        </p:nvGraphicFramePr>
        <p:xfrm>
          <a:off x="853875" y="2320074"/>
          <a:ext cx="10515600" cy="37185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Does It Fix the Gap?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Coz (SOSP 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Causal profiling for </a:t>
                      </a:r>
                      <a:r>
                        <a:rPr lang="en-US" sz="1600" dirty="0" smtClean="0"/>
                        <a:t>single-node, multi-threaded </a:t>
                      </a:r>
                      <a:r>
                        <a:rPr lang="en-US" sz="1600" dirty="0"/>
                        <a:t>CPU programs — </a:t>
                      </a:r>
                      <a:r>
                        <a:rPr lang="en-US" sz="1600" dirty="0" err="1"/>
                        <a:t>SlowPoke's</a:t>
                      </a:r>
                      <a:r>
                        <a:rPr lang="en-US" sz="1600" dirty="0"/>
                        <a:t> intellectual 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— single node only, no distributed I/O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CRISP (ATC 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Critical path analysis on RPC traces — diagnoses where problems 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 — diagnostic only, no prediction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LatenSeer (SoCC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Latency distribution modeling from trace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 — targets latency not throughput, no slowdown mechanism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Autoscaling papers (HPA, PBScaler)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Predictive resource scaling based on workload forecasts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 — different research question entirely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SlowPoke</a:t>
                      </a:r>
                      <a:r>
                        <a:rPr lang="en-US" sz="1600" dirty="0"/>
                        <a:t> (NSDI 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Throughput prediction via CPU </a:t>
                      </a:r>
                      <a:r>
                        <a:rPr lang="en-US" sz="1600" dirty="0" smtClean="0"/>
                        <a:t>slowdown – my base paper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Partially — explicitly does not handle I/O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93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600" b="1" dirty="0" smtClean="0"/>
              <a:t>Practical </a:t>
            </a:r>
            <a:r>
              <a:rPr lang="en-US" sz="3600" b="1" dirty="0"/>
              <a:t>Industrial Relevance:</a:t>
            </a:r>
            <a:r>
              <a:rPr lang="en-US" sz="3600" dirty="0"/>
              <a:t> The overwhelming majority of production </a:t>
            </a:r>
            <a:r>
              <a:rPr lang="en-US" sz="3600" dirty="0" err="1"/>
              <a:t>microservices</a:t>
            </a:r>
            <a:r>
              <a:rPr lang="en-US" sz="3600" dirty="0"/>
              <a:t> perform database queries, network calls, and external API requests. A profiling tool that only works for purely CPU-bound services has limited applicability to real engineering problems. </a:t>
            </a:r>
            <a:r>
              <a:rPr lang="en-US" sz="3600" dirty="0" err="1"/>
              <a:t>NetPoke</a:t>
            </a:r>
            <a:r>
              <a:rPr lang="en-US" sz="3600" dirty="0"/>
              <a:t> extends the technique to where it is most needed.</a:t>
            </a:r>
          </a:p>
          <a:p>
            <a:pPr marL="114300" indent="0">
              <a:buNone/>
            </a:pP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1641791" y="5951896"/>
            <a:ext cx="5277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11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1999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28650" indent="-514350">
              <a:buFont typeface="+mj-lt"/>
              <a:buAutoNum type="arabicPeriod" startAt="3"/>
            </a:pPr>
            <a:r>
              <a:rPr lang="en-US" sz="3200" b="1" dirty="0"/>
              <a:t>Advancing the State of the Art in Performance Prediction:</a:t>
            </a:r>
            <a:r>
              <a:rPr lang="en-US" sz="3200" dirty="0"/>
              <a:t> Accurate pre-implementation throughput prediction reduces the cost and risk of optimization engineering. </a:t>
            </a:r>
            <a:r>
              <a:rPr lang="en-US" sz="3200" dirty="0" err="1"/>
              <a:t>NetPoke's</a:t>
            </a:r>
            <a:r>
              <a:rPr lang="en-US" sz="3200" dirty="0"/>
              <a:t> contribution enables engineers to make better optimization decisions for a broader class of </a:t>
            </a:r>
            <a:r>
              <a:rPr lang="en-US" sz="3200" dirty="0" err="1"/>
              <a:t>microservice</a:t>
            </a:r>
            <a:r>
              <a:rPr lang="en-US" sz="3200" dirty="0"/>
              <a:t> applications — directly reducing wasted engineering effort in cloud-based systems.</a:t>
            </a:r>
          </a:p>
          <a:p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641791" y="5951896"/>
            <a:ext cx="5277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12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80969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28650" indent="-514350">
              <a:buFont typeface="+mj-lt"/>
              <a:buAutoNum type="arabicPeriod" startAt="4"/>
            </a:pPr>
            <a:r>
              <a:rPr lang="en-US" sz="3600" b="1" dirty="0"/>
              <a:t>Contribution to Open Science:</a:t>
            </a:r>
            <a:r>
              <a:rPr lang="en-US" sz="3600" dirty="0"/>
              <a:t> </a:t>
            </a:r>
            <a:r>
              <a:rPr lang="en-US" sz="3600" dirty="0" err="1"/>
              <a:t>NetPoke</a:t>
            </a:r>
            <a:r>
              <a:rPr lang="en-US" sz="3600" dirty="0"/>
              <a:t> will be built entirely on open-source infrastructure — </a:t>
            </a:r>
            <a:r>
              <a:rPr lang="en-US" sz="3600" dirty="0" err="1"/>
              <a:t>SlowPoke</a:t>
            </a:r>
            <a:r>
              <a:rPr lang="en-US" sz="3600" dirty="0"/>
              <a:t>, </a:t>
            </a:r>
            <a:r>
              <a:rPr lang="en-US" sz="3600" dirty="0" err="1"/>
              <a:t>tc</a:t>
            </a:r>
            <a:r>
              <a:rPr lang="en-US" sz="3600" dirty="0"/>
              <a:t> </a:t>
            </a:r>
            <a:r>
              <a:rPr lang="en-US" sz="3600" dirty="0" err="1"/>
              <a:t>netem</a:t>
            </a:r>
            <a:r>
              <a:rPr lang="en-US" sz="3600" dirty="0"/>
              <a:t>, </a:t>
            </a:r>
            <a:r>
              <a:rPr lang="en-US" sz="3600" dirty="0" err="1"/>
              <a:t>eBPF</a:t>
            </a:r>
            <a:r>
              <a:rPr lang="en-US" sz="3600" dirty="0"/>
              <a:t>, </a:t>
            </a:r>
            <a:r>
              <a:rPr lang="en-US" sz="3600" dirty="0" err="1"/>
              <a:t>Kubernetes</a:t>
            </a:r>
            <a:r>
              <a:rPr lang="en-US" sz="3600" dirty="0"/>
              <a:t>, and </a:t>
            </a:r>
            <a:r>
              <a:rPr lang="en-US" sz="3600" dirty="0" err="1"/>
              <a:t>DeathStarBench</a:t>
            </a:r>
            <a:r>
              <a:rPr lang="en-US" sz="3600" dirty="0"/>
              <a:t> — and the implementation will be released publicly, enabling reproducibility and future extension by the research community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1641791" y="5951896"/>
            <a:ext cx="5277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13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1444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Topic</a:t>
            </a:r>
            <a:r>
              <a:rPr lang="en-US" sz="3200" dirty="0"/>
              <a:t>: I/O-Aware Causal Profiling for </a:t>
            </a:r>
            <a:r>
              <a:rPr lang="en-US" sz="3200" dirty="0" err="1"/>
              <a:t>Microservice</a:t>
            </a:r>
            <a:r>
              <a:rPr lang="en-US" sz="3200" dirty="0"/>
              <a:t> Throughput Prediction </a:t>
            </a:r>
            <a:r>
              <a:rPr lang="en-US" sz="3200" dirty="0" smtClean="0"/>
              <a:t>(</a:t>
            </a:r>
            <a:r>
              <a:rPr lang="en-US" sz="3200" dirty="0" err="1" smtClean="0"/>
              <a:t>NetPoke</a:t>
            </a:r>
            <a:r>
              <a:rPr lang="en-US" sz="3200" dirty="0" smtClean="0"/>
              <a:t>)</a:t>
            </a:r>
            <a:endParaRPr lang="en-US" sz="3200" dirty="0"/>
          </a:p>
          <a:p>
            <a:r>
              <a:rPr lang="en-US" sz="3200" b="1" dirty="0"/>
              <a:t>Aim</a:t>
            </a:r>
            <a:r>
              <a:rPr lang="en-US" sz="3200" dirty="0"/>
              <a:t>: Extend </a:t>
            </a:r>
            <a:r>
              <a:rPr lang="en-US" sz="3200" dirty="0" err="1"/>
              <a:t>SlowPoke</a:t>
            </a:r>
            <a:r>
              <a:rPr lang="en-US" sz="3200" dirty="0"/>
              <a:t> to accurately handle I/O-bound services </a:t>
            </a:r>
          </a:p>
          <a:p>
            <a:r>
              <a:rPr lang="en-US" sz="3200" b="1" dirty="0"/>
              <a:t>Base paper</a:t>
            </a:r>
            <a:r>
              <a:rPr lang="en-US" sz="3200" dirty="0"/>
              <a:t>: </a:t>
            </a:r>
            <a:r>
              <a:rPr lang="en-US" sz="3200" dirty="0" err="1"/>
              <a:t>SlowPoke</a:t>
            </a:r>
            <a:r>
              <a:rPr lang="en-US" sz="3200" dirty="0"/>
              <a:t> — NSDI 2026 </a:t>
            </a:r>
          </a:p>
          <a:p>
            <a:r>
              <a:rPr lang="en-US" sz="3200" b="1" dirty="0"/>
              <a:t>Status</a:t>
            </a:r>
            <a:r>
              <a:rPr lang="en-US" sz="3200" dirty="0"/>
              <a:t>: Ran Slowpoke’s functional test — system running, baseline measured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1641791" y="5951896"/>
            <a:ext cx="5277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 smtClean="0"/>
              <a:t>14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312171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91"/>
          <p:cNvSpPr txBox="1"/>
          <p:nvPr/>
        </p:nvSpPr>
        <p:spPr>
          <a:xfrm>
            <a:off x="10820400" y="63093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39838" y="2400326"/>
            <a:ext cx="65117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806</Words>
  <Application>Microsoft Office PowerPoint</Application>
  <PresentationFormat>Custom</PresentationFormat>
  <Paragraphs>74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I/O-Aware Causal Profiling for Throughput Prediction in Microservice Systems  Also referred to as: NetPoke: Network-Aware Throughput Prediction for Microservice Applications</vt:lpstr>
      <vt:lpstr>BACKGROUND</vt:lpstr>
      <vt:lpstr>THE PROBLEM</vt:lpstr>
      <vt:lpstr>THE PROPOSED SYSTEM</vt:lpstr>
      <vt:lpstr>AIM</vt:lpstr>
      <vt:lpstr>OBJECTIVES</vt:lpstr>
      <vt:lpstr>OBJECTIVES (CONT’D)</vt:lpstr>
      <vt:lpstr>RESEARCH QUESTIONS</vt:lpstr>
      <vt:lpstr>RESEARCH QUESTIONS (CONT’D)</vt:lpstr>
      <vt:lpstr>SIGNIFICANCE OF THE STUDY</vt:lpstr>
      <vt:lpstr>Related Works</vt:lpstr>
      <vt:lpstr>SIGNIFICANCE OF THE STUDY</vt:lpstr>
      <vt:lpstr>SIGNIFICANCE OF THE STUDY</vt:lpstr>
      <vt:lpstr>SIGNIFICANCE OF THE STUDY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I/O-Aware Causal Profiling for Throughput Prediction in Microservice Systems  Also referred to as: NetPoke: Network-Aware Throughput Prediction for Microservice Applications</dc:title>
  <dc:creator>Dan Niels</dc:creator>
  <cp:lastModifiedBy>Visca Afram Gyebi</cp:lastModifiedBy>
  <cp:revision>12</cp:revision>
  <dcterms:created xsi:type="dcterms:W3CDTF">2026-03-05T17:04:00Z</dcterms:created>
  <dcterms:modified xsi:type="dcterms:W3CDTF">2026-05-18T09:13:45Z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9C9DD37B55584BD9BCF25F51BC497E5F_13</vt:lpwstr>
  </property>
  <property fmtid="{D5CDD505-2E9C-101B-9397-08002B2CF9AE}" pid="3" name="KSOProductBuildVer">
    <vt:lpwstr>1033-12.2.0.23196</vt:lpwstr>
  </property>
</Properties>
</file>